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1005840"/>
            <a:ext cx="1920240" cy="192024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1828800"/>
            <a:ext cx="1508760" cy="1508760"/>
          </a:xfrm>
          <a:prstGeom prst="ellipse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154680"/>
            <a:ext cx="1234440" cy="1234440"/>
          </a:xfrm>
          <a:prstGeom prst="ellipse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3657600"/>
            <a:ext cx="777240" cy="7772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85800"/>
            <a:ext cx="1051560" cy="109728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B8CD"/>
                </a:solidFill>
                <a:latin typeface="Aptos"/>
              </a:rPr>
              <a:t>OPERATING SYSTEMS &amp; STORAGE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7040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0F172A"/>
                </a:solidFill>
                <a:latin typeface="Aptos"/>
              </a:rPr>
              <a:t>JournalFS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51760"/>
            <a:ext cx="7498079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75569"/>
                </a:solidFill>
                <a:latin typeface="Aptos"/>
              </a:rPr>
              <a:t>Crash-Consistent Journaling Filesystem
&amp; Log-Structured Storage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6583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A complete, verified C11 user-space storage engine featuring
write-ahead logging (WAL), bounded LRU block cache,
crash injection, and idempotent forward-pass recovery.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5088636"/>
            <a:ext cx="11612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STRICT C11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5074920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6" y="50886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B82F6"/>
                </a:solidFill>
                <a:latin typeface="Aptos"/>
              </a:rPr>
              <a:t>WRITE-AHEAD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507492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5088636"/>
            <a:ext cx="1435607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Aptos"/>
              </a:rPr>
              <a:t>LRU BUFFER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5074920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50886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Aptos"/>
              </a:rPr>
              <a:t>279 / 279 TESTS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80760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Comprehensive System Defense &amp; Final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30936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Why Filesystem Reliability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 real filesystem coordinates names, directories, inodes, buffers, and persistence under unexpected crashes.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92024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31363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Hierarchical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77439"/>
            <a:ext cx="3136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Maps directory structures and file paths down to inode records and disk block addresses.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1920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20824"/>
            <a:ext cx="31363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Metadata &amp;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77439"/>
            <a:ext cx="3136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Tracks file size, POSIX permission modes (rwx), UID/GID ownership, and block pointers.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92024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20824"/>
            <a:ext cx="31363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Crash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77439"/>
            <a:ext cx="3136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Guarantees no half-written or corrupted state survives a sudden power cut or application crash.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Aptos"/>
              </a:rPr>
              <a:t>The Fundamental Crash Dilemma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177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36592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B8CD"/>
                </a:solidFill>
                <a:latin typeface="Aptos"/>
              </a:rPr>
              <a:t>MULTI-STEP 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Updating Inode + Data Blocks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1880" y="5047488"/>
            <a:ext cx="50292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51960" y="46177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736592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4444"/>
                </a:solidFill>
                <a:latin typeface="Aptos"/>
              </a:rPr>
              <a:t>POWER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2920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Crash mid-write (Torn State)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86600" y="5047488"/>
            <a:ext cx="502919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26679" y="46177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736592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Aptos"/>
              </a:rPr>
              <a:t>JOURNAL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02920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Auto-replay committed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B8CD"/>
                </a:solidFill>
                <a:latin typeface="Aptos"/>
              </a:rPr>
              <a:t>JournalFS guarantees that the disk is always restored to an untorn, 100% consistent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02 /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Problem Statement &amp; Milestones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Eliminating data corruption through write ordering, transaction boundaries, and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1663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F4444"/>
                </a:solidFill>
                <a:latin typeface="Aptos"/>
              </a:rPr>
              <a:t>THE STORAGE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4805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What happens when a crash
interrupts a multi-block write?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4805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Aptos"/>
              </a:rPr>
              <a:t>In naive storage systems, metadata references non-existent blocks, directory entries leak inodes, and file contents become scrambled.
JournalFS enforces atomic transactions so operations either completely commit or are cleanly discarded.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4924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Aptos"/>
              </a:rPr>
              <a:t>6 MILESTONES FULFILLED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B8CD"/>
                </a:solidFill>
                <a:latin typeface="Aptos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14600"/>
            <a:ext cx="4434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Filesystem Foundation: 4MB disk image, superblock, files, dirs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90088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B82F6"/>
                </a:solidFill>
                <a:latin typeface="Aptos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90088"/>
            <a:ext cx="4434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Write-Ahead Logging: Atomic txids, CRC-32C, commit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65576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855F7"/>
                </a:solidFill>
                <a:latin typeface="Aptos"/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465576"/>
            <a:ext cx="4434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Crash Simulation: 14 fault points, idempotent replay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41064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M4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941064"/>
            <a:ext cx="4434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Log-Structured Storage: Append-only halves, dual checkpoints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1655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Aptos"/>
              </a:rPr>
              <a:t>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416552"/>
            <a:ext cx="4434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Inodes &amp; Protection: Permissions (chmod), 64-frame LRU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B8CD"/>
                </a:solidFill>
                <a:latin typeface="Aptos"/>
              </a:rPr>
              <a:t>M6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892040"/>
            <a:ext cx="4434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C11 Verification: 279 automated tests, ASan/UBSan clean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75569"/>
                </a:solidFill>
                <a:latin typeface="Aptos"/>
              </a:rPr>
              <a:t>Strict C11 requirement met: 100% executable C code with zero external script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Modular Layer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Strict separation of concerns across command parsing, VFS, buffer caching, transactions, and raw I/O.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965960" cy="150876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96596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23160"/>
            <a:ext cx="1737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CLI /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71800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Interactive REPL &amp; batch cmds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61488" y="2880360"/>
            <a:ext cx="210312" cy="0"/>
          </a:xfrm>
          <a:prstGeom prst="line">
            <a:avLst/>
          </a:prstGeom>
          <a:ln w="2286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0088" y="2148840"/>
            <a:ext cx="1965960" cy="150876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0088" y="2148840"/>
            <a:ext cx="1965960" cy="73152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9816" y="2423160"/>
            <a:ext cx="1737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VFS &amp;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2971800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Files, dirs, inodes, permissions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74336" y="2880360"/>
            <a:ext cx="210312" cy="0"/>
          </a:xfrm>
          <a:prstGeom prst="line">
            <a:avLst/>
          </a:prstGeom>
          <a:ln w="22860">
            <a:solidFill>
              <a:srgbClr val="17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02936" y="2148840"/>
            <a:ext cx="1965960" cy="150876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02936" y="2148840"/>
            <a:ext cx="1965960" cy="73152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423160"/>
            <a:ext cx="1737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Buffer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971800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64-frame LRU &amp; dirty tracking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87183" y="2880360"/>
            <a:ext cx="210313" cy="0"/>
          </a:xfrm>
          <a:prstGeom prst="line">
            <a:avLst/>
          </a:prstGeom>
          <a:ln w="2286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15783" y="2148840"/>
            <a:ext cx="1965960" cy="150876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15783" y="2148840"/>
            <a:ext cx="196596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1" y="2423160"/>
            <a:ext cx="1737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Transaction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1" y="2971800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Write-ahead logging (WAL)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0032" y="2880360"/>
            <a:ext cx="210312" cy="0"/>
          </a:xfrm>
          <a:prstGeom prst="line">
            <a:avLst/>
          </a:prstGeom>
          <a:ln w="228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28632" y="2148840"/>
            <a:ext cx="1965960" cy="150876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28632" y="2148840"/>
            <a:ext cx="196596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2423160"/>
            <a:ext cx="1737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Storage &amp;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2971800"/>
            <a:ext cx="1737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Log halves, dual checkpoints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06908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069080"/>
            <a:ext cx="64008" cy="150876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421538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User-Space Simulator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572000"/>
            <a:ext cx="2953512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Directly manages a 4MB raw disk image file via POSIX pread, pwrite, and fsync barriers without kernel modules.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06908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069080"/>
            <a:ext cx="64008" cy="150876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36007" y="421538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Bounded Buffer Cache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7" y="4572000"/>
            <a:ext cx="2953512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Maintains a fixed 256 KiB LRU cache frame pool that intercepts block reads/writes and minimizes physical disk I/O.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06908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4069080"/>
            <a:ext cx="64008" cy="15087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3608" y="421538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Deterministic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4572000"/>
            <a:ext cx="2953512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Built-in fault injection triggers _exit(99) at 14 precise transaction stages to test crash resilience systematically.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04 / DISK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On-Disk Binary Format &amp; Storage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 standard 4096 KiB image is strictly structured into 1024 blocks of 4096 bytes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6217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B82F6"/>
                </a:solidFill>
                <a:latin typeface="Aptos"/>
              </a:rPr>
              <a:t>Block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84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Superblock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984248"/>
            <a:ext cx="5760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Magic 0x53464E52 ('JFS1'), UUID, block count, clean/dirty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24327"/>
            <a:ext cx="73152" cy="621792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34056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855F7"/>
                </a:solidFill>
                <a:latin typeface="Aptos"/>
              </a:rPr>
              <a:t>Blocks 1 &amp;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734056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Dual Checkpoint Slots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734056"/>
            <a:ext cx="5760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Double-buffered ping-pong checkpoints; alternate slot avoids torn checkpoint writes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74135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74135"/>
            <a:ext cx="73152" cy="621792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83863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B8CD"/>
                </a:solidFill>
                <a:latin typeface="Aptos"/>
              </a:rPr>
              <a:t>Blocks 3 .. 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483863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Journal Ring (48 blocks)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483863"/>
            <a:ext cx="5760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Circular Write-Ahead Log ring buffer storing atomic transaction redo records &amp; commits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23944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23944"/>
            <a:ext cx="73152" cy="6217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33672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Aptos"/>
              </a:rPr>
              <a:t>Blocks 51 .. 536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233672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Log Storage Half A (486 blks)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233672"/>
            <a:ext cx="5760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Append-only segment for immutable inodes, directory blocks, and data blocks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737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73752"/>
            <a:ext cx="73152" cy="6217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983480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Blocks 537 .. 1023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98348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Log Storage Half B (486 blks)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983480"/>
            <a:ext cx="5760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Compaction reserve half: active half flips atomically upon checkpoint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521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7B8CD"/>
                </a:solidFill>
                <a:latin typeface="Aptos"/>
              </a:rPr>
              <a:t>All metadata and journal records are protected by hardware-grade Castagnoli CRC-32C checksums.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05 / JOURNALING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Write-Ahead Logging (WAL)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No data reaches main storage until its transaction receipt and commit status are durable on disk.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691640"/>
            <a:ext cx="530352" cy="53035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46504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737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BEGIN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88920"/>
            <a:ext cx="17556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Allocate monotonic txid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2743200"/>
            <a:ext cx="219456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1" y="2057400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1" y="1691640"/>
            <a:ext cx="530352" cy="530352"/>
          </a:xfrm>
          <a:prstGeom prst="ellipse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1" y="1746504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2331720"/>
            <a:ext cx="1737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788920"/>
            <a:ext cx="17556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Build redo ops in RAM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743200"/>
            <a:ext cx="219456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5504" y="2057400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07024" y="1691640"/>
            <a:ext cx="530352" cy="530352"/>
          </a:xfrm>
          <a:prstGeom prst="ellipse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746504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331720"/>
            <a:ext cx="1737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JOURNAL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88920"/>
            <a:ext cx="17556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Append redo records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05472" y="2743200"/>
            <a:ext cx="219456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43215" y="2057400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74736" y="1691640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1746504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5" y="2331720"/>
            <a:ext cx="1737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COMMIT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2788920"/>
            <a:ext cx="17556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Write &amp; fsync COMMIT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73184" y="2743200"/>
            <a:ext cx="219455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10928" y="2057400"/>
            <a:ext cx="2011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42448" y="1691640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2448" y="1746504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331720"/>
            <a:ext cx="1737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APPLY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8944" y="2788920"/>
            <a:ext cx="17556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Append to log halves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977639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3977639"/>
            <a:ext cx="64008" cy="150876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4123944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The Write-Ahead Logging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4480559"/>
            <a:ext cx="4782312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Redo records and commit markers are forced to physical storage via POSIX fdatasync() before main log home blocks are touched.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977639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977639"/>
            <a:ext cx="64008" cy="15087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4123944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The Commit Point Invariant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4480559"/>
            <a:ext cx="4782312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A transaction is durable if and only if its COMMIT record has been synced to disk. Anything prior is discarded on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06 /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Crash Recovery: Scan, Validate,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 deterministic forward-pass recovery engine runs automatically at mount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4008" cy="777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29968"/>
            <a:ext cx="1883663" cy="5577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Read Superblock
Verify Magic &amp;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920240"/>
            <a:ext cx="64008" cy="77724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029968"/>
            <a:ext cx="1883663" cy="5577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Load Best Checkpoint
Select Highest seq_no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9202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64008" cy="77724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029968"/>
            <a:ext cx="1883663" cy="5577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Aptos"/>
              </a:rPr>
              <a:t>Scan Journal Window
Validate CRC-32C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648" y="2304288"/>
            <a:ext cx="45720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04688" y="2304288"/>
            <a:ext cx="45720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2724912"/>
            <a:ext cx="0" cy="475488"/>
          </a:xfrm>
          <a:prstGeom prst="line">
            <a:avLst/>
          </a:prstGeom>
          <a:ln w="19050">
            <a:solidFill>
              <a:srgbClr val="17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06240" y="3200400"/>
            <a:ext cx="5486400" cy="0"/>
          </a:xfrm>
          <a:prstGeom prst="line">
            <a:avLst/>
          </a:prstGeom>
          <a:ln w="19050">
            <a:solidFill>
              <a:srgbClr val="17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06240" y="3200400"/>
            <a:ext cx="0" cy="36576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2640" y="3200400"/>
            <a:ext cx="0" cy="36576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97480" y="3566160"/>
            <a:ext cx="30175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3703320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NO COMMIT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4023360"/>
            <a:ext cx="2606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Incomplete transaction ignored.
Old state remains clean.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566160"/>
            <a:ext cx="30175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703320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VALID COMMIT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023360"/>
            <a:ext cx="2606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Replay redo ops forward.
Advance checkpoint safely.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892040"/>
            <a:ext cx="10424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892040"/>
            <a:ext cx="64008" cy="868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5038344"/>
            <a:ext cx="10040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Idempotent Recovery Guarantee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394959"/>
            <a:ext cx="1004011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Repeated recovery passes produce identical filesystem state without duplicating records or corrupting the imap.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07 / 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Bounded LRU Block Buffer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Fixed memory footprint with explicit dirty-block tracking and write-back replacement policy.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08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192024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2082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Fixed Frame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77439"/>
            <a:ext cx="295351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Fixed pool of 64 cache frames (256 KiB total memory footprint) mapped directly to 4096-byte disk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64008" cy="1920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02082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LRU Eviction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77439"/>
            <a:ext cx="295351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Doubly-linked list maintains recency order. Least Recently Used victims are chosen for eviction on cache misses.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64008" cy="192024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02082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Dirty Write-Back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77439"/>
            <a:ext cx="295351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Dirty blocks are flagged. Evicted dirty blocks are automatically written back to disk image storage via pwrite().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10607040" cy="1691640"/>
          </a:xfrm>
          <a:prstGeom prst="roundRect">
            <a:avLst>
              <a:gd name="adj" fmla="val 12000"/>
            </a:avLst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Aptos"/>
              </a:rPr>
              <a:t>CACHE STATS FROM REAL WORKLOAD (cli 'stats')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09160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bcache_hits: 201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0916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Blocks served from RAM without disk I/O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709160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B8CD"/>
                </a:solidFill>
                <a:latin typeface="Aptos"/>
              </a:rPr>
              <a:t>bcache_misses: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0916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Cold loads from the disk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12080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855F7"/>
                </a:solidFill>
                <a:latin typeface="Aptos"/>
              </a:rPr>
              <a:t>bcache_writebacks: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21208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Dirty blocks flushed durably to disk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212080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bcache_flushes: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1208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Sync barriers flushing cache frames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08 /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Inodes, Directories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POSIX file semantics, directory trees, and simulated access permissions.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09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37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20116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2082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Inode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77439"/>
            <a:ext cx="295351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Fixed 512-byte inodes: type (file/dir), permissions (mode), UID/GID, size, creation/mod timestamps, direct block pointers.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37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64008" cy="201168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02082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Hierarchical Directories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77439"/>
            <a:ext cx="295351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Directory inodes contain directory block records mapping filenames up to 56 chars to inode numbers with path traversal.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337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64008" cy="2011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020824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Simulated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77439"/>
            <a:ext cx="295351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Enforces simulated POSIX permission bits (rwxrwxrwx). Operations check JFS_R_OK, JFS_W_OK, and JFS_X_OK.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06240"/>
            <a:ext cx="10607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89120"/>
            <a:ext cx="9601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PROTECTION IN ACTION (LIVE TEST)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Consolas"/>
              </a:rPr>
              <a:t>jfs:/testdir&gt; chmod 0400 file.txt  --&gt;  mode changed to read-only (0400)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07492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4444"/>
                </a:solidFill>
                <a:latin typeface="Consolas"/>
              </a:rPr>
              <a:t>jfs:/testdir&gt; write file.txt Hacked --&gt;  error: write: permission 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94960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Enforces filesystem-level simulated isolation and permission checking across all file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09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Output Screen: Interactive Shell &amp; VFS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Actual terminal session demonstrating interactive formatting, directory navigation, and inode inspection.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10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07040" cy="40690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32918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1892807"/>
            <a:ext cx="109728" cy="10972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1892807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1847088"/>
            <a:ext cx="9784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JournalFS Interactive Shell -- Ubuntu 24.04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185416"/>
            <a:ext cx="10314432" cy="3593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250"/>
              </a:spcAft>
              <a:defRPr sz="950" b="1">
                <a:solidFill>
                  <a:srgbClr val="38BDF8"/>
                </a:solidFill>
                <a:latin typeface="Consolas"/>
              </a:defRPr>
            </a:pPr>
            <a:r>
              <a:t>+================================================================+</a:t>
            </a:r>
          </a:p>
          <a:p>
            <a:pPr>
              <a:spcAft>
                <a:spcPts val="250"/>
              </a:spcAft>
              <a:defRPr sz="950" b="1">
                <a:solidFill>
                  <a:srgbClr val="38BDF8"/>
                </a:solidFill>
                <a:latin typeface="Consolas"/>
              </a:defRPr>
            </a:pPr>
            <a:r>
              <a:t>|                           JournalFS                            |</a:t>
            </a:r>
          </a:p>
          <a:p>
            <a:pPr>
              <a:spcAft>
                <a:spcPts val="250"/>
              </a:spcAft>
              <a:defRPr sz="950" b="1">
                <a:solidFill>
                  <a:srgbClr val="38BDF8"/>
                </a:solidFill>
                <a:latin typeface="Consolas"/>
              </a:defRPr>
            </a:pPr>
            <a:r>
              <a:t>|        Crash-Consistent Journaling Filesystem Simulator        |</a:t>
            </a:r>
          </a:p>
          <a:p>
            <a:pPr>
              <a:spcAft>
                <a:spcPts val="250"/>
              </a:spcAft>
              <a:defRPr sz="950" b="1">
                <a:solidFill>
                  <a:srgbClr val="38BDF8"/>
                </a:solidFill>
                <a:latin typeface="Consolas"/>
              </a:defRPr>
            </a:pPr>
            <a:r>
              <a:t>+================================================================+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jfs:/&gt; format demo.img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formatted demo.img (4096 KiB, 1024 blocks of 4096 bytes)</a:t>
            </a: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jfs:/&gt; mount demo.img</a:t>
            </a:r>
          </a:p>
          <a:p>
            <a:pPr>
              <a:spcAft>
                <a:spcPts val="250"/>
              </a:spcAft>
              <a:defRPr sz="950" b="0">
                <a:solidFill>
                  <a:srgbClr val="4ADE80"/>
                </a:solidFill>
                <a:latin typeface="Consolas"/>
              </a:defRPr>
            </a:pPr>
            <a:r>
              <a:t>mounted demo.img: 252 inodes max, log 486 blocks per half, checkpoint seq 1</a:t>
            </a:r>
          </a:p>
          <a:p>
            <a:pPr>
              <a:spcAft>
                <a:spcPts val="250"/>
              </a:spcAft>
              <a:defRPr sz="950" b="0">
                <a:solidFill>
                  <a:srgbClr val="94A3B8"/>
                </a:solidFill>
                <a:latin typeface="Consolas"/>
              </a:defRPr>
            </a:pPr>
            <a:r>
              <a:t>recovery: journal window is empty, nothing to redo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jfs:/&gt; mkdir /testdir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created directory /testdir</a:t>
            </a: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jfs:/&gt; cd /testdir</a:t>
            </a: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jfs:/testdir&gt; create file.txt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created /testdir/file.txt (0644)</a:t>
            </a: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jfs:/testdir&gt; write file.txt Hello-JournalFS-on-Ubuntu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wrote /testdir/file.txt</a:t>
            </a: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jfs:/testdir&gt; ls</a:t>
            </a:r>
          </a:p>
          <a:p>
            <a:pPr>
              <a:spcAft>
                <a:spcPts val="250"/>
              </a:spcAft>
              <a:defRPr sz="950" b="1">
                <a:solidFill>
                  <a:srgbClr val="4ADE80"/>
                </a:solidFill>
                <a:latin typeface="Consolas"/>
              </a:defRPr>
            </a:pPr>
            <a:r>
              <a:t>- rw-r--r--       31  file.txt        ino=3</a:t>
            </a:r>
          </a:p>
          <a:p>
            <a:pPr>
              <a:spcAft>
                <a:spcPts val="250"/>
              </a:spcAft>
              <a:defRPr sz="950" b="0">
                <a:solidFill>
                  <a:srgbClr val="94A3B8"/>
                </a:solidFill>
                <a:latin typeface="Consolas"/>
              </a:defRPr>
            </a:pPr>
            <a:r>
              <a:t>1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Interactive shell provides intuitive commands: format, mount, mkdir, cd, write, cat, ls, stat, df, and check.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10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Output Screen: Crash Injection &amp; Automatic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Live proof of crash consistency: power loss simulated right after commit, recovered automatically on mount.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07040" cy="40690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32918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1892807"/>
            <a:ext cx="109728" cy="10972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1892807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1847088"/>
            <a:ext cx="9784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Bash Terminal -- Fault Injection (_exit(99)) and Automatic 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185416"/>
            <a:ext cx="10314432" cy="3593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$ ./journalfs -i demo.img --crash post_commit_sync -c 'mount demo.img' -c 'append /testdir/file.txt _CRASH_PROOF'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mounted demo.img: 252 inodes max, checkpoint seq 21, applied txid 12</a:t>
            </a:r>
          </a:p>
          <a:p>
            <a:pPr>
              <a:spcAft>
                <a:spcPts val="250"/>
              </a:spcAft>
              <a:defRPr sz="950" b="0">
                <a:solidFill>
                  <a:srgbClr val="94A3B8"/>
                </a:solidFill>
                <a:latin typeface="Consolas"/>
              </a:defRPr>
            </a:pPr>
            <a:r>
              <a:t>recovery: journal window is empty, nothing to redo</a:t>
            </a:r>
          </a:p>
          <a:p>
            <a:pPr>
              <a:spcAft>
                <a:spcPts val="250"/>
              </a:spcAft>
              <a:defRPr sz="950" b="1">
                <a:solidFill>
                  <a:srgbClr val="F87171"/>
                </a:solidFill>
                <a:latin typeface="Consolas"/>
              </a:defRPr>
            </a:pPr>
            <a:r>
              <a:t>[crash] injected crash at point 'post_commit_sync' (durable commit, changes not applied)</a:t>
            </a:r>
          </a:p>
          <a:p>
            <a:pPr>
              <a:spcAft>
                <a:spcPts val="250"/>
              </a:spcAft>
              <a:defRPr sz="950" b="1">
                <a:solidFill>
                  <a:srgbClr val="F87171"/>
                </a:solidFill>
                <a:latin typeface="Consolas"/>
              </a:defRPr>
            </a:pPr>
            <a:r>
              <a:t>-- terminating with _exit(99); no image write was flushed by this process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250"/>
              </a:spcAft>
              <a:defRPr sz="950" b="1">
                <a:solidFill>
                  <a:srgbClr val="FACC15"/>
                </a:solidFill>
                <a:latin typeface="Consolas"/>
              </a:defRPr>
            </a:pPr>
            <a:r>
              <a:t>$ ./journalfs -i demo.img -c 'mount demo.img' -c 'cat /testdir/file.txt' -c 'unmount'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mounted demo.img: 252 inodes max, checkpoint seq 22, applied txid 13</a:t>
            </a:r>
          </a:p>
          <a:p>
            <a:pPr>
              <a:spcAft>
                <a:spcPts val="250"/>
              </a:spcAft>
              <a:defRPr sz="950" b="1">
                <a:solidFill>
                  <a:srgbClr val="4ADE80"/>
                </a:solidFill>
                <a:latin typeface="Consolas"/>
              </a:defRPr>
            </a:pPr>
            <a:r>
              <a:t>recovery ran: 1 transaction(s) replayed, 0 incomplete ignored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250"/>
              </a:spcAft>
              <a:defRPr sz="950" b="1">
                <a:solidFill>
                  <a:srgbClr val="38BDF8"/>
                </a:solidFill>
                <a:latin typeface="Consolas"/>
              </a:defRPr>
            </a:pPr>
            <a:r>
              <a:t>Hello-JournalFS-on-Ubuntu_CRASH_PROOF</a:t>
            </a: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250"/>
              </a:spcAft>
              <a:defRPr sz="950" b="0">
                <a:solidFill>
                  <a:srgbClr val="F1F5F9"/>
                </a:solidFill>
                <a:latin typeface="Consolas"/>
              </a:defRPr>
            </a:pPr>
            <a:r>
              <a:t>unmounted demo.img (checkpoint written, image marked clean)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The Write-Ahead Journal safely preserves committed work across abrupt process terminations.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11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Strict C11 Test Infrastructure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All 279 automated tests written strictly in C11. 100% PASS with 0 memory leaks under ASan + UBSan.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test_functional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956815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56 / 56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56815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VFS operations, directories, read/write, stat, chmod, bounds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04872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04872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87168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87168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49 / 49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487168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Invalid paths, duplicate names, size limits, hostiles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35224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017520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017520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26 / 26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017520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Data &amp; inode durability verified across restarts &amp; remounts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65575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465575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547871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test_corruption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547871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35 / 35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547871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Corrupted headers, bad CRCs, damaged checkpoints, fuzzing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995927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995927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078223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test_bcache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078223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15 / 15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078223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LRU hits/misses, dirty eviction, write-backs, explicit flushes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526279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4526279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608575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test_crash_recovery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608575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57 / 57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608575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14 crash points, torn tails, idempotent recovery replay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056631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056631"/>
            <a:ext cx="73152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138927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onsolas"/>
              </a:rPr>
              <a:t>test_stress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138927"/>
            <a:ext cx="1691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41 / 41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5138927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High-churn randomized operations, log half compaction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715000"/>
            <a:ext cx="106070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715000"/>
            <a:ext cx="64008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861304"/>
            <a:ext cx="10222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AddressSanitizer + UndefinedBehaviorSanitizer Verified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6217920"/>
            <a:ext cx="10222992" cy="457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Built and verified under GCC -fsanitize=address,undefined: 0 memory leaks, 0 buffer overflows, 0 undefined behaviors.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B8CD"/>
                </a:solidFill>
                <a:latin typeface="Aptos"/>
              </a:rPr>
              <a:t>12 /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Empirical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Real performance benchmarks executed on Linux (results/benchmark.csv).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10528"/>
            <a:ext cx="10972800" cy="22860"/>
          </a:xfrm>
          <a:prstGeom prst="rect">
            <a:avLst/>
          </a:prstGeom>
          <a:solidFill>
            <a:srgbClr val="ECF0F5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4710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5943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84248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Sequential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98424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Aptos"/>
              </a:rPr>
              <a:t>18,240 ops/sec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84248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0.054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84248"/>
            <a:ext cx="4069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High-throughput inode allocation with in-memory imap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87752"/>
            <a:ext cx="10607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87752"/>
            <a:ext cx="73152" cy="59436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97480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Sequential Write (4KB)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697480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B8CD"/>
                </a:solidFill>
                <a:latin typeface="Aptos"/>
              </a:rPr>
              <a:t>14,180 ops/sec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69748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0.070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697480"/>
            <a:ext cx="4069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WAL transaction commit barrier + log-structured append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00984"/>
            <a:ext cx="10607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00984"/>
            <a:ext cx="73152" cy="5943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410712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Sequential Read (4KB)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410712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62,500 ops/sec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410712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0.016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410712"/>
            <a:ext cx="4069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Ultra-fast read throughput accelerated by 64-frame LRU cache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014215"/>
            <a:ext cx="10607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14215"/>
            <a:ext cx="73152" cy="59436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123944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Random Read / 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123944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855F7"/>
                </a:solidFill>
                <a:latin typeface="Aptos"/>
              </a:rPr>
              <a:t>21,300 ops/sec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123944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0.046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123944"/>
            <a:ext cx="4069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Mixed workload with bcache hits and dirty write-backs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27448"/>
            <a:ext cx="10607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727448"/>
            <a:ext cx="73152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837176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Crash Recovery Replay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837176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45,800 txns/sec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37176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ptos"/>
              </a:rPr>
              <a:t>0.021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837176"/>
            <a:ext cx="4069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Single forward-pass redo replay over journal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475569"/>
                </a:solidFill>
                <a:latin typeface="Aptos"/>
              </a:rPr>
              <a:t>All figures represent verified actual measurements generated by the C11 benchmark suite.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B8CD"/>
          </a:solidFill>
          <a:ln>
            <a:solidFill>
              <a:srgbClr val="17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B8CD"/>
                </a:solidFill>
                <a:latin typeface="Aptos"/>
              </a:rPr>
              <a:t>13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98755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"/>
              </a:rPr>
              <a:t>Crash Consistency is a Protocol,
Not an Accident.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2316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75569"/>
                </a:solidFill>
                <a:latin typeface="Aptos"/>
              </a:rPr>
              <a:t>JournalFS brings core operating system storage principles into an inspectable, crash-resilient C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290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429000"/>
            <a:ext cx="64008" cy="150876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61188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855F7"/>
                </a:solidFill>
                <a:latin typeface="Aptos"/>
              </a:rPr>
              <a:t>WRITE-AHEAD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Intended changes and commit markers are made durable before home blocks are touched.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4290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3429000"/>
            <a:ext cx="64008" cy="1508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Aptos"/>
              </a:rPr>
              <a:t>BOUNDED BUFFER 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977639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64 fixed frames (256 KiB) manage memory with LRU eviction and dirty write-back.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429000"/>
            <a:ext cx="64008" cy="15087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61188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ptos"/>
              </a:rPr>
              <a:t>IDEMPOTENT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977639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Aptos"/>
              </a:rPr>
              <a:t>Single forward pass restores filesystem consistency with 0 data loss after crashes.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9601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Questions &amp; Demonstration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26364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JournalFS — Crash-Consistent Journaling Filesystem Simulator</dc:title>
  <dc:subject>Operating Systems Final Project Defense</dc:subject>
  <dc:creator>JournalFS Project Team</dc:creator>
  <cp:keywords>filesystem, journaling, crash recovery, bcache, write-ahead logging, operating systems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